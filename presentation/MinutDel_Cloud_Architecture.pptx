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463040"/>
            <a:ext cx="3840480" cy="411480"/>
          </a:xfrm>
          <a:prstGeom prst="roundRect">
            <a:avLst/>
          </a:prstGeom>
          <a:solidFill>
            <a:srgbClr val="18223A"/>
          </a:solidFill>
          <a:ln w="19050">
            <a:solidFill>
              <a:srgbClr val="F8C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CB46"/>
                </a:solidFill>
              </a:defRPr>
            </a:pPr>
            <a:r>
              <a:t>⚡ AWS FREE TIER CLOUD COMPUTING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66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MinutDel: Scalable 10-Minute</a:t>
            </a:r>
            <a:br/>
            <a:r>
              <a:t>Quick Commerce Cloud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49039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Full-stack event-driven grocery fulfillment engine architected with Spring Boot 3, React 18,</a:t>
            </a:r>
            <a:br/>
            <a:r>
              <a:t>and deployed on zero-cost AWS Cloud infrastructure (EC2, S3, RDS, Actuator).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663440"/>
            <a:ext cx="2331720" cy="822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CB46"/>
                </a:solidFill>
              </a:defRPr>
            </a:pPr>
            <a:r>
              <a:t>COMPUTE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Amazon EC2 (t2.micro)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4663440"/>
            <a:ext cx="2331720" cy="822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CB46"/>
                </a:solidFill>
              </a:defRPr>
            </a:pPr>
            <a:r>
              <a:t>STORAGE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Amazon S3 Bucket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4663440"/>
            <a:ext cx="2331720" cy="822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CB46"/>
                </a:solidFill>
              </a:defRPr>
            </a:pPr>
            <a:r>
              <a:t>DATABASE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PostgreSQL / H2 JPA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4663440"/>
            <a:ext cx="2331720" cy="822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CB46"/>
                </a:solidFill>
              </a:defRPr>
            </a:pPr>
            <a:r>
              <a:t>OBSERVABILITY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CloudWatch / Actuator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Author: Arnav Astu   •   Course: Cloud Computing   •   GitHub: github.com/ArnavAstu/MinutDel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8CB46"/>
                </a:solidFill>
              </a:defRPr>
            </a:pPr>
            <a:r>
              <a:t>01 • CLOUD COMPUTING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Quick Commerce Demands Cloud Computing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Evaluating how cloud-native elasticity solves traditional on-premise grocery bottlenecks.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83280" cy="40233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CB46"/>
                </a:solidFill>
              </a:defRPr>
            </a:pPr>
            <a:r>
              <a:t>⚡ Flash Demand Spikes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Traffic surges 10x-50x during breakfast and evening snack hours.</a:t>
            </a:r>
            <a:br/>
            <a:br/>
            <a:r>
              <a:t>On-premise physical servers either suffer costly fatal crashes during spikes or waste massive idle capital during off-peak hours.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03120"/>
            <a:ext cx="3383280" cy="40233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C831F"/>
                </a:solidFill>
              </a:defRPr>
            </a:pPr>
            <a:r>
              <a:t>⏱️ Sub-100ms Inventory Locking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Dark stores hold finite local inventory.</a:t>
            </a:r>
            <a:br/>
            <a:br/>
            <a:r>
              <a:t>Over-selling leads to costly refund logistics. High-throughput ACID transactions and low-latency databases are required to guarantee inventory integrity.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103120"/>
            <a:ext cx="3383280" cy="40233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📦 Decoupled Media &amp; Compute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Serving high-resolution grocery imagery directly from the application server exhausts thread pools and saturates CPU.</a:t>
            </a:r>
            <a:br/>
            <a:br/>
            <a:r>
              <a:t>Offloading media to Cloud Object Storage (S3) frees compute resources entirely for transactions.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8CB46"/>
                </a:solidFill>
              </a:defRPr>
            </a:pPr>
            <a:r>
              <a:t>02 • CLOUD COMPUTING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High-Level Cloud Architecture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Decoupled 3-Tier topology following 12-Factor Cloud Application methodology.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8328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TIER 1: PRESENTATION (EDGE)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React 18 SPA (Vite + Tailwind)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Client-side reactive storefront</a:t>
            </a:r>
            <a:br/>
            <a:r>
              <a:t>• 5-stage live delivery progress polling</a:t>
            </a:r>
            <a:br/>
            <a:r>
              <a:t>• Embedded Cloud Telemetry inspector</a:t>
            </a:r>
            <a:br/>
            <a:r>
              <a:t>• Bundled directly into Spring Boot static resources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03120"/>
            <a:ext cx="338328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CB46"/>
                </a:solidFill>
              </a:defRPr>
            </a:pPr>
            <a:r>
              <a:t>TIER 2: COMPUTE (APPLICATION)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Spring Boot 3 on AWS EC2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Stateless REST API on port 8080</a:t>
            </a:r>
            <a:br/>
            <a:r>
              <a:t>• Spring Data JPA abstraction layer</a:t>
            </a:r>
            <a:br/>
            <a:r>
              <a:t>• Asynchronous @Async simulation engine</a:t>
            </a:r>
            <a:br/>
            <a:r>
              <a:t>• Actuator health &amp; telemetry endpoints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103120"/>
            <a:ext cx="338328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C831F"/>
                </a:solidFill>
              </a:defRPr>
            </a:pPr>
            <a:r>
              <a:t>TIER 3: PERSISTENCE &amp; OBJECTS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Amazon RDS + Amazon S3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Amazon RDS PostgreSQL (Managed DB)</a:t>
            </a:r>
            <a:br/>
            <a:r>
              <a:t>• Embedded H2 for local zero-setup dev</a:t>
            </a:r>
            <a:br/>
            <a:r>
              <a:t>• Amazon S3 bucket for grocery imagery</a:t>
            </a:r>
            <a:br/>
            <a:r>
              <a:t>• AWS SDK v2 client integration with fallback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8CB46"/>
                </a:solidFill>
              </a:defRPr>
            </a:pPr>
            <a:r>
              <a:t>03 • CLOUD COMPUTING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AWS Cloud Services &amp; Free Tier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100% Free Tier compliant architecture designed to eliminate accidental billing.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9144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CB46"/>
                </a:solidFill>
              </a:defRPr>
            </a:pPr>
            <a:r>
              <a:t>Amazon EC2  •  Virtual Compute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Free Tier Limit: 750 Hours / Month (t2.micro / t3.micro)  |  Role: Hosts Spring Boot container, web server, and asynchronous execution threads 24/7.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79"/>
            <a:ext cx="10728655" cy="9144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C831F"/>
                </a:solidFill>
              </a:defRPr>
            </a:pPr>
            <a:r>
              <a:t>Amazon S3  •  Object Storage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Free Tier Limit: 5 GB Standard Storage + 20,000 GETs  |  Role: Decoupled media hosting for grocery images, served directly to browsers without touching server CPU.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728655" cy="9144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Amazon RDS  •  Managed Relational DB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Free Tier Limit: 750 Hours / Month (db.t3.micro) + 20 GB  |  Role: Managed PostgreSQL database instance providing transaction guarantees and multi-AZ backups.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57800"/>
            <a:ext cx="10728655" cy="9144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CB46"/>
                </a:solidFill>
              </a:defRPr>
            </a:pPr>
            <a:r>
              <a:t>Amazon CloudWatch  •  Telemetry &amp; Logs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Free Tier Limit: 5 GB Ingestion + Basic Alarms  |  Role: Centralized aggregation of Spring Boot Actuator health metrics, API latency, and application logs.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8CB46"/>
                </a:solidFill>
              </a:defRPr>
            </a:pPr>
            <a:r>
              <a:t>04 • CLOUD COMPUTING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10-Minute Asynchronous Fulfillment State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Non-blocking event simulation modeling dark store picking, packing, and dispatch.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749808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CB46"/>
                </a:solidFill>
              </a:defRPr>
            </a:pPr>
            <a:r>
              <a:t>1. PLACED (T + 0s)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Dark Store #07 confirms order. Inventory stock decremented in DB. Simulation thread spawned via @Async.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71800"/>
            <a:ext cx="10728655" cy="749808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C831F"/>
                </a:solidFill>
              </a:defRPr>
            </a:pPr>
            <a:r>
              <a:t>2. PACKING (T + 5s)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Store picker Rajesh collects grocery items from micro-warehouse shelves. ETA countdown shifts to 8 mins.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79"/>
            <a:ext cx="10728655" cy="749808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3. RIDER ASSIGNED (T + 11s)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Delivery partner assigned (e.g., Amit Sharma • +91 98711-22334). Rider waits at dark store bay.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09159"/>
            <a:ext cx="10728655" cy="749808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CB46"/>
                </a:solidFill>
              </a:defRPr>
            </a:pPr>
            <a:r>
              <a:t>4. OUT FOR DELIVERY (T + 17s)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Order dispatched on electric two-wheeler. Real-time ETA updates to 3 mins remaining.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77840"/>
            <a:ext cx="10728655" cy="749808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C831F"/>
                </a:solidFill>
              </a:defRPr>
            </a:pPr>
            <a:r>
              <a:t>5. DELIVERED (T + 25s)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Delivery completed! 10-minute guarantee met. Order marked finalized in database.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8CB46"/>
                </a:solidFill>
              </a:defRPr>
            </a:pPr>
            <a:r>
              <a:t>05 • CLOUD COMPUTING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Spring Boot 3 &amp; Dual-Profile Database Agility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Zero-lock-in architecture: write once, test locally, deploy seamlessly to AWS.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21208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CB46"/>
                </a:solidFill>
              </a:defRPr>
            </a:pPr>
            <a:r>
              <a:t>LOCAL PROFILE (spring.profiles.active=local)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• Embedded In-Memory SQL (H2)</a:t>
            </a:r>
            <a:br/>
            <a:r>
              <a:t>  Spins up automatically in RAM. No local PostgreSQL or Docker install needed.</a:t>
            </a:r>
            <a:br/>
            <a:br/>
            <a:r>
              <a:t>• Automatic Seeding (DataLoader)</a:t>
            </a:r>
            <a:br/>
            <a:r>
              <a:t>  Automatically seeds 12 quick-commerce grocery items + 5 categories on startup.</a:t>
            </a:r>
            <a:br/>
            <a:br/>
            <a:r>
              <a:t>• Embedded H2 Web Console</a:t>
            </a:r>
            <a:br/>
            <a:r>
              <a:t>  Allows instant database table inspection at http://localhost:8080/h2-console.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03120"/>
            <a:ext cx="521208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C831F"/>
                </a:solidFill>
              </a:defRPr>
            </a:pPr>
            <a:r>
              <a:t>PRODUCTION PROFILE (spring.profiles.active=aws)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• Amazon RDS PostgreSQL Managed DB</a:t>
            </a:r>
            <a:br/>
            <a:r>
              <a:t>  Activated via application-aws.yml or environment variables without changing Java code.</a:t>
            </a:r>
            <a:br/>
            <a:br/>
            <a:r>
              <a:t>• Spring Data JPA Abstraction</a:t>
            </a:r>
            <a:br/>
            <a:r>
              <a:t>  Hibernate abstracts the SQL dialect: zero entity or query modifications required.</a:t>
            </a:r>
            <a:br/>
            <a:br/>
            <a:r>
              <a:t>• AWS SDK v2 S3 Client</a:t>
            </a:r>
            <a:br/>
            <a:r>
              <a:t>  Streams image URLs from S3 buckets with automatic fallback to local placeholders.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8CB46"/>
                </a:solidFill>
              </a:defRPr>
            </a:pPr>
            <a:r>
              <a:t>06 • CLOUD COMPUTING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React Storefront &amp; Live Cloud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Modern Blinkit-style user interface integrated with live cloud inspection capabilities.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8328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CB46"/>
                </a:solidFill>
              </a:defRPr>
            </a:pPr>
            <a:r>
              <a:t>🛒 Instant Cart Drawer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• Persistent client-side cart state</a:t>
            </a:r>
            <a:br/>
            <a:r>
              <a:t>• Real-time +/- quantity steppers</a:t>
            </a:r>
            <a:br/>
            <a:r>
              <a:t>• Automatic bill calculation (MRP, handling fees, free 10-min delivery promo)</a:t>
            </a:r>
            <a:br/>
            <a:r>
              <a:t>• Customer delivery address 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03120"/>
            <a:ext cx="338328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C831F"/>
                </a:solidFill>
              </a:defRPr>
            </a:pPr>
            <a:r>
              <a:t>🚴 Live Order Tracker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• 5-stage animated progress bar</a:t>
            </a:r>
            <a:br/>
            <a:r>
              <a:t>• Automated background polling of /api/orders/{id} every 2.5 seconds</a:t>
            </a:r>
            <a:br/>
            <a:r>
              <a:t>• Live countdown timer (10 mins -&gt; 0 mins)</a:t>
            </a:r>
            <a:br/>
            <a:r>
              <a:t>• Delivery partner name &amp; contact badge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103120"/>
            <a:ext cx="338328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☁️ Cloud Telemetry Modal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• Live inspector querying /api/cloud-info</a:t>
            </a:r>
            <a:br/>
            <a:r>
              <a:t>• Displays active EC2 Hostname</a:t>
            </a:r>
            <a:br/>
            <a:r>
              <a:t>• Verifies active Database dialect</a:t>
            </a:r>
            <a:br/>
            <a:r>
              <a:t>• Displays Amazon S3 bucket connectivity</a:t>
            </a:r>
            <a:br/>
            <a:r>
              <a:t>• Proves AWS Free Tier compliance live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8CB46"/>
                </a:solidFill>
              </a:defRPr>
            </a:pPr>
            <a:r>
              <a:t>07 • CLOUD COMPUTING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AWS Security, Networking &amp; 12-Factor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Implementing enterprise cloud governance and least-privilege virtual network security.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21208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CB46"/>
                </a:solidFill>
              </a:defRPr>
            </a:pPr>
            <a:r>
              <a:t>AWS VIRTUAL FIREWALL (SECURITY GROUPS)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• Port 22 (SSH Inbound)</a:t>
            </a:r>
            <a:br/>
            <a:r>
              <a:t>  Restricted administration access for EC2 terminal management.</a:t>
            </a:r>
            <a:br/>
            <a:br/>
            <a:r>
              <a:t>• Port 80 (HTTP Inbound)</a:t>
            </a:r>
            <a:br/>
            <a:r>
              <a:t>  Public entry point for internet web browser traffic.</a:t>
            </a:r>
            <a:br/>
            <a:br/>
            <a:r>
              <a:t>• Port 8080 (Custom TCP Inbound)</a:t>
            </a:r>
            <a:br/>
            <a:r>
              <a:t>  Dedicated listener for MinutDel Spring Boot REST API &amp; embedded React application.</a:t>
            </a:r>
            <a:br/>
            <a:br/>
            <a:r>
              <a:t>• Outbound Traffic (Default All)</a:t>
            </a:r>
            <a:br/>
            <a:r>
              <a:t>  Allows instances to pull updates, Maven packages, and communicate with S3.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03120"/>
            <a:ext cx="521208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C831F"/>
                </a:solidFill>
              </a:defRPr>
            </a:pPr>
            <a:r>
              <a:t>12-FACTOR CLOUD APP METHODOLOGY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• VI. Stateless Processes</a:t>
            </a:r>
            <a:br/>
            <a:r>
              <a:t>  EC2 servers store zero persistent session state. Database state lives externally in RDS.</a:t>
            </a:r>
            <a:br/>
            <a:br/>
            <a:r>
              <a:t>• III. Config in the Environment</a:t>
            </a:r>
            <a:br/>
            <a:r>
              <a:t>  Database credentials, ports, and bucket names injected via environment variables.</a:t>
            </a:r>
            <a:br/>
            <a:br/>
            <a:r>
              <a:t>• VII. Port Binding</a:t>
            </a:r>
            <a:br/>
            <a:r>
              <a:t>  Completely self-contained; exports HTTP on port 8080 via embedded Apache Tomcat.</a:t>
            </a:r>
            <a:br/>
            <a:br/>
            <a:r>
              <a:t>• IV. Backing Services</a:t>
            </a:r>
            <a:br/>
            <a:r>
              <a:t>  Treats S3 and RDS as attached network resources without code-level tight coupling.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8CB46"/>
                </a:solidFill>
              </a:defRPr>
            </a:pPr>
            <a:r>
              <a:t>08 • CLOUD COMPUTING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Zero-Friction Cloud Deployment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From developer workstation to 24/7 public cloud execution in 3 streamlined steps.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8328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CB46"/>
                </a:solidFill>
              </a:defRPr>
            </a:pPr>
            <a:r>
              <a:t>Step 1: Code &amp; Version Control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• Source code pushed to GitHub: github.com/ArnavAstu/MinutDel</a:t>
            </a:r>
            <a:br/>
            <a:r>
              <a:t>• Pre-compiled React frontend embedded into Spring Boot's static resources</a:t>
            </a:r>
            <a:br/>
            <a:r>
              <a:t>• Clean .gitignore eliminates node_modules and target/ bloat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03120"/>
            <a:ext cx="338328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C831F"/>
                </a:solidFill>
              </a:defRPr>
            </a:pPr>
            <a:r>
              <a:t>Step 2: EC2 Cloud Provisioning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• Launch Ubuntu 24.04 LTS instance on AWS EC2</a:t>
            </a:r>
            <a:br/>
            <a:r>
              <a:t>• Configure Security Group (Ports 22, 80, 8080)</a:t>
            </a:r>
            <a:br/>
            <a:r>
              <a:t>• Install OpenJDK 21, Git, and Maven via apt</a:t>
            </a:r>
            <a:br/>
            <a:r>
              <a:t>• Clone GitHub repository directly on EC2 instance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103120"/>
            <a:ext cx="338328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Step 3: Build &amp; Daemon Launch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• Package unified uber-JAR: mvn clean package -DskipTests</a:t>
            </a:r>
            <a:br/>
            <a:r>
              <a:t>• Execute background daemon: nohup java -jar target/*.jar &gt; app.log 2&gt;&amp;1 &amp;</a:t>
            </a:r>
            <a:br/>
            <a:r>
              <a:t>• Immediately accessible globally at: http://&lt;EC2-PUBLIC-IP&gt;:8080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8CB46"/>
                </a:solidFill>
              </a:defRPr>
            </a:pPr>
            <a:r>
              <a:t>09 • CLOUD COMPUTING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 &amp; Production Scalability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Project achievements and blueprint for enterprise-scale quick commerce expansion.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212080" cy="32004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C831F"/>
                </a:solidFill>
              </a:defRPr>
            </a:pPr>
            <a:r>
              <a:t>🏆 PROJECT ACHIEVEMENTS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• Fully functional 10-minute Quick Commerce simulated platform</a:t>
            </a:r>
            <a:br/>
            <a:r>
              <a:t>• Asynchronous state machine mimicking dark-store fulfillment</a:t>
            </a:r>
            <a:br/>
            <a:r>
              <a:t>• Dual-profile database agility (H2 locally, RDS on AWS)</a:t>
            </a:r>
            <a:br/>
            <a:r>
              <a:t>• AWS SDK v2 Object Storage (S3) integration</a:t>
            </a:r>
            <a:br/>
            <a:r>
              <a:t>• 100% Free Tier compliant with zero operational costs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03120"/>
            <a:ext cx="5212080" cy="32004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🚀 FUTURE ENTERPRISE ROADMAP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• Amazon SQS: Decouple order checkout queue for flash traffic smoothing</a:t>
            </a:r>
            <a:br/>
            <a:r>
              <a:t>• Amazon DynamoDB: Store high-frequency rider GPS telemetry coordinates</a:t>
            </a:r>
            <a:br/>
            <a:r>
              <a:t>• AWS ALB &amp; Auto Scaling: Automatic EC2 scale-out during peak grocery hours</a:t>
            </a:r>
            <a:br/>
            <a:r>
              <a:t>• Amazon CloudFront CDN: Sub-10ms global edge caching for grocery assets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18223A"/>
          </a:solidFill>
          <a:ln w="19050">
            <a:solidFill>
              <a:srgbClr val="F8C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Thank You!   •   Live Demonstration &amp; Defense</a:t>
            </a:r>
          </a:p>
          <a:p>
            <a:pPr algn="ctr">
              <a:defRPr sz="1100">
                <a:solidFill>
                  <a:srgbClr val="F8CB46"/>
                </a:solidFill>
              </a:defRPr>
            </a:pPr>
            <a:r>
              <a:t>GitHub Repository: https://github.com/ArnavAstu/MinutDel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